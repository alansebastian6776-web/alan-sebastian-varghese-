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</p:sldIdLst>
  <p:sldSz cx="23749000" cy="168021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2" Type="http://schemas.openxmlformats.org/officeDocument/2006/relationships/presProps" Target="presProps.xml"/><Relationship Id="rId3" Type="http://schemas.openxmlformats.org/officeDocument/2006/relationships/viewProps" Target="viewProps.xml"/><Relationship Id="rId4" Type="http://schemas.openxmlformats.org/officeDocument/2006/relationships/theme" Target="theme/theme1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/Relationship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1" id="2"/>
          <p:cNvSpPr txBox="true"/>
          <p:nvPr/>
        </p:nvSpPr>
        <p:spPr>
          <a:xfrm>
            <a:off x="5930900" y="571500"/>
            <a:ext cx="11887200" cy="16484600"/>
          </a:xfrm>
          <a:prstGeom prst="rect">
            <a:avLst/>
          </a:prstGeom>
        </p:spPr>
        <p:txBody>
          <a:bodyPr anchor="t" rtlCol="false"/>
          <a:lstStyle/>
          <a:p>
            <a:pPr algn="l"/>
            <a:r>
              <a:t/>
            </a:r>
            <a:endParaRPr lang="en-US" sz="1100"/>
          </a:p>
          <a:p>
            <a:r>
              <a:rPr lang="en-US" sz="3700">
                <a:solidFill>
                  <a:srgbClr val="252525"/>
                </a:solidFill>
              </a:rPr>
              <a:t>&lt;</a:t>
            </a:r>
            <a:r>
              <a:rPr lang="en-US" sz="3700">
                <a:solidFill>
                  <a:srgbClr val="252525"/>
                </a:solidFill>
              </a:rPr>
              <a:t>!DOCTYPE html&gt;</a:t>
            </a:r>
          </a:p>
          <a:p>
            <a:r>
              <a:rPr lang="en-US" sz="3700">
                <a:solidFill>
                  <a:srgbClr val="252525"/>
                </a:solidFill>
              </a:rPr>
              <a:t>&lt;html lang="en"&gt;</a:t>
            </a:r>
          </a:p>
          <a:p>
            <a:r>
              <a:rPr lang="en-US" sz="3700">
                <a:solidFill>
                  <a:srgbClr val="252525"/>
                </a:solidFill>
              </a:rPr>
              <a:t>&lt;head&gt;</a:t>
            </a:r>
          </a:p>
          <a:p>
            <a:r>
              <a:rPr lang="en-US" sz="3700">
                <a:solidFill>
                  <a:srgbClr val="252525"/>
                </a:solidFill>
              </a:rPr>
              <a:t>    &lt;meta charset="UTF-8"&gt;</a:t>
            </a:r>
          </a:p>
          <a:p>
            <a:r>
              <a:rPr lang="en-US" sz="3700">
                <a:solidFill>
                  <a:srgbClr val="252525"/>
                </a:solidFill>
              </a:rPr>
              <a:t>    &lt;meta name="viewport" content="width=device-width, initial-scale=1.0"&gt;</a:t>
            </a:r>
          </a:p>
          <a:p>
            <a:r>
              <a:rPr lang="en-US" sz="3700">
                <a:solidFill>
                  <a:srgbClr val="252525"/>
                </a:solidFill>
              </a:rPr>
              <a:t>    &lt;title&gt;Alan Sebastian | Portfolio&lt;/title&gt;</a:t>
            </a:r>
          </a:p>
          <a:p>
            <a:r>
              <a:rPr lang="en-US" sz="3700">
                <a:solidFill>
                  <a:srgbClr val="252525"/>
                </a:solidFill>
              </a:rPr>
              <a:t>    &lt;style&gt;</a:t>
            </a:r>
          </a:p>
          <a:p>
            <a:r>
              <a:rPr lang="en-US" sz="3700">
                <a:solidFill>
                  <a:srgbClr val="252525"/>
                </a:solidFill>
              </a:rPr>
              <a:t>        /* BASIC STYLING: Clean, high-contrast, and visually appealing [cite: </a:t>
            </a:r>
            <a:r>
              <a:rPr lang="en-US" sz="3700">
                <a:solidFill>
                  <a:srgbClr val="252525"/>
                </a:solidFill>
              </a:rPr>
              <a:t>10, 13</a:t>
            </a:r>
            <a:r>
              <a:rPr lang="en-US" sz="3700">
                <a:solidFill>
                  <a:srgbClr val="252525"/>
                </a:solidFill>
              </a:rPr>
              <a:t>] */</a:t>
            </a:r>
          </a:p>
          <a:p>
            <a:r>
              <a:rPr lang="en-US" sz="3700">
                <a:solidFill>
                  <a:srgbClr val="252525"/>
                </a:solidFill>
              </a:rPr>
              <a:t>        body {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background: #000; 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color: #fff;      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font-family: 'Segoe UI', Tahoma, Geneva, Verdana, sans-serif;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margin: 0;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padding: 20px;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display: flex;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flex-direction: column;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1" id="2"/>
          <p:cNvSpPr txBox="true"/>
          <p:nvPr/>
        </p:nvSpPr>
        <p:spPr>
          <a:xfrm>
            <a:off x="5930900" y="571500"/>
            <a:ext cx="11887200" cy="16484600"/>
          </a:xfrm>
          <a:prstGeom prst="rect">
            <a:avLst/>
          </a:prstGeom>
        </p:spPr>
        <p:txBody>
          <a:bodyPr anchor="t" rtlCol="false"/>
          <a:lstStyle/>
          <a:p>
            <a:pPr algn="l"/>
            <a:r>
              <a:t/>
            </a:r>
            <a:endParaRPr lang="en-US" sz="1100"/>
          </a:p>
          <a:p>
            <a:r>
              <a:rPr lang="en-US" sz="3700">
                <a:solidFill>
                  <a:srgbClr val="252525"/>
                </a:solidFill>
              </a:rPr>
              <a:t>            align-items: center;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line-height: </a:t>
            </a:r>
            <a:r>
              <a:rPr lang="en-US" sz="3700">
                <a:solidFill>
                  <a:srgbClr val="252525"/>
                </a:solidFill>
              </a:rPr>
              <a:t>1.6</a:t>
            </a:r>
            <a:r>
              <a:rPr lang="en-US" sz="3700">
                <a:solidFill>
                  <a:srgbClr val="252525"/>
                </a:solidFill>
              </a:rPr>
              <a:t>;</a:t>
            </a:r>
          </a:p>
          <a:p>
            <a:r>
              <a:rPr lang="en-US" sz="3700">
                <a:solidFill>
                  <a:srgbClr val="252525"/>
                </a:solidFill>
              </a:rPr>
              <a:t>        }</a:t>
            </a:r>
          </a:p>
          <a:p>
            <a:r>
              <a:rPr lang="en-US" sz="5000"/>
              <a:t>  </a:t>
            </a:r>
          </a:p>
          <a:p>
            <a:r>
              <a:rPr lang="en-US" sz="3700">
                <a:solidFill>
                  <a:srgbClr val="252525"/>
                </a:solidFill>
              </a:rPr>
              <a:t>        /* NEON RED THEME: High motion feel with glow effects [cite: 13, 18] */</a:t>
            </a:r>
          </a:p>
          <a:p>
            <a:r>
              <a:rPr lang="en-US" sz="3700">
                <a:solidFill>
                  <a:srgbClr val="252525"/>
                </a:solidFill>
              </a:rPr>
              <a:t>        h1, h2 {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color: #ff0000;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text-shadow: 0 0 10px #ff0000, 0 0 20px #990000; 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text-transform: uppercase;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letter-spacing: 2px;</a:t>
            </a:r>
          </a:p>
          <a:p>
            <a:r>
              <a:rPr lang="en-US" sz="3700">
                <a:solidFill>
                  <a:srgbClr val="252525"/>
                </a:solidFill>
              </a:rPr>
              <a:t>        }</a:t>
            </a:r>
          </a:p>
          <a:p>
            <a:r>
              <a:rPr lang="en-US" sz="5000"/>
              <a:t>  </a:t>
            </a:r>
          </a:p>
          <a:p>
            <a:r>
              <a:rPr lang="en-US" sz="3700">
                <a:solidFill>
                  <a:srgbClr val="252525"/>
                </a:solidFill>
              </a:rPr>
              <a:t>        section {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width: 100%;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max-width: 600px;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margin-bottom: 30px;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padding: 25px;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border: 1px solid #333;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border-radius: 8px;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1" id="2"/>
          <p:cNvSpPr txBox="true"/>
          <p:nvPr/>
        </p:nvSpPr>
        <p:spPr>
          <a:xfrm>
            <a:off x="5930900" y="571500"/>
            <a:ext cx="11887200" cy="16484600"/>
          </a:xfrm>
          <a:prstGeom prst="rect">
            <a:avLst/>
          </a:prstGeom>
        </p:spPr>
        <p:txBody>
          <a:bodyPr anchor="t" rtlCol="false"/>
          <a:lstStyle/>
          <a:p>
            <a:pPr algn="l"/>
            <a:r>
              <a:t/>
            </a:r>
            <a:endParaRPr lang="en-US" sz="1100"/>
          </a:p>
          <a:p>
            <a:r>
              <a:rPr lang="en-US" sz="3700">
                <a:solidFill>
                  <a:srgbClr val="252525"/>
                </a:solidFill>
              </a:rPr>
              <a:t>            background: rgba(20, 20, 20, 0.8);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transition: transform 0.3s ease;</a:t>
            </a:r>
          </a:p>
          <a:p>
            <a:r>
              <a:rPr lang="en-US" sz="3700">
                <a:solidFill>
                  <a:srgbClr val="252525"/>
                </a:solidFill>
              </a:rPr>
              <a:t>        }</a:t>
            </a:r>
          </a:p>
          <a:p>
            <a:r>
              <a:rPr lang="en-US" sz="5000"/>
              <a:t>  </a:t>
            </a:r>
          </a:p>
          <a:p>
            <a:r>
              <a:rPr lang="en-US" sz="3700">
                <a:solidFill>
                  <a:srgbClr val="252525"/>
                </a:solidFill>
              </a:rPr>
              <a:t>        /* INTERACTIVE ELEMENTS: Hover effects for UX [cite: 18] */</a:t>
            </a:r>
          </a:p>
          <a:p>
            <a:r>
              <a:rPr lang="en-US" sz="3700">
                <a:solidFill>
                  <a:srgbClr val="252525"/>
                </a:solidFill>
              </a:rPr>
              <a:t>        section:hover {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transform: scale(1.02);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border-color: #ff0000;</a:t>
            </a:r>
          </a:p>
          <a:p>
            <a:r>
              <a:rPr lang="en-US" sz="3700">
                <a:solidFill>
                  <a:srgbClr val="252525"/>
                </a:solidFill>
              </a:rPr>
              <a:t>        }</a:t>
            </a:r>
          </a:p>
          <a:p>
            <a:r>
              <a:rPr lang="en-US" sz="3700">
                <a:solidFill>
                  <a:srgbClr val="252525"/>
                </a:solidFill>
              </a:rPr>
              <a:t>      </a:t>
            </a:r>
          </a:p>
          <a:p>
            <a:r>
              <a:rPr lang="en-US" sz="3700">
                <a:solidFill>
                  <a:srgbClr val="252525"/>
                </a:solidFill>
              </a:rPr>
              <a:t>        a {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color: #ff0000;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text-decoration: none;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font-weight: bold;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transition: 0.3s;</a:t>
            </a:r>
          </a:p>
          <a:p>
            <a:r>
              <a:rPr lang="en-US" sz="3700">
                <a:solidFill>
                  <a:srgbClr val="252525"/>
                </a:solidFill>
              </a:rPr>
              <a:t>        }</a:t>
            </a:r>
          </a:p>
          <a:p>
            <a:r>
              <a:rPr lang="en-US" sz="5000"/>
              <a:t>  </a:t>
            </a:r>
          </a:p>
          <a:p>
            <a:r>
              <a:rPr lang="en-US" sz="3700">
                <a:solidFill>
                  <a:srgbClr val="252525"/>
                </a:solidFill>
              </a:rPr>
              <a:t>        a:hover {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text-shadow: 0 0 15px #ff0000;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color: #fff;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1" id="2"/>
          <p:cNvSpPr txBox="true"/>
          <p:nvPr/>
        </p:nvSpPr>
        <p:spPr>
          <a:xfrm>
            <a:off x="5930900" y="571500"/>
            <a:ext cx="11887200" cy="16484600"/>
          </a:xfrm>
          <a:prstGeom prst="rect">
            <a:avLst/>
          </a:prstGeom>
        </p:spPr>
        <p:txBody>
          <a:bodyPr anchor="t" rtlCol="false"/>
          <a:lstStyle/>
          <a:p>
            <a:pPr algn="l"/>
            <a:r>
              <a:t/>
            </a:r>
            <a:endParaRPr lang="en-US" sz="1100"/>
          </a:p>
          <a:p>
            <a:r>
              <a:rPr lang="en-US" sz="3700">
                <a:solidFill>
                  <a:srgbClr val="252525"/>
                </a:solidFill>
              </a:rPr>
              <a:t>        }</a:t>
            </a:r>
          </a:p>
          <a:p>
            <a:r>
              <a:rPr lang="en-US" sz="5000"/>
              <a:t>  </a:t>
            </a:r>
          </a:p>
          <a:p>
            <a:r>
              <a:rPr lang="en-US" sz="3700">
                <a:solidFill>
                  <a:srgbClr val="252525"/>
                </a:solidFill>
              </a:rPr>
              <a:t>        .btn {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border: 1px solid #ff0000;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padding: 10px 20px;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display: inline-block;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margin-top: 10px;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text-transform: uppercase;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font-size: 0.8rem;</a:t>
            </a:r>
          </a:p>
          <a:p>
            <a:r>
              <a:rPr lang="en-US" sz="3700">
                <a:solidFill>
                  <a:srgbClr val="252525"/>
                </a:solidFill>
              </a:rPr>
              <a:t>        }</a:t>
            </a:r>
          </a:p>
          <a:p>
            <a:r>
              <a:rPr lang="en-US" sz="5000"/>
              <a:t>  </a:t>
            </a:r>
          </a:p>
          <a:p>
            <a:r>
              <a:rPr lang="en-US" sz="3700">
                <a:solidFill>
                  <a:srgbClr val="252525"/>
                </a:solidFill>
              </a:rPr>
              <a:t>        /* RESPONSIVENESS: Media queries for mobile devices [cite: 15, 16] */</a:t>
            </a:r>
          </a:p>
          <a:p>
            <a:r>
              <a:rPr lang="en-US" sz="3700">
                <a:solidFill>
                  <a:srgbClr val="252525"/>
                </a:solidFill>
              </a:rPr>
              <a:t>        @media (max-width: 600px) {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body { padding: 10px; }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section { width: 95%; padding: 15px; }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h1 { font-size: </a:t>
            </a:r>
            <a:r>
              <a:rPr lang="en-US" sz="3700">
                <a:solidFill>
                  <a:srgbClr val="252525"/>
                </a:solidFill>
              </a:rPr>
              <a:t>1.5</a:t>
            </a:r>
            <a:r>
              <a:rPr lang="en-US" sz="3700">
                <a:solidFill>
                  <a:srgbClr val="252525"/>
                </a:solidFill>
              </a:rPr>
              <a:t>rem; }</a:t>
            </a:r>
          </a:p>
          <a:p>
            <a:r>
              <a:rPr lang="en-US" sz="3700">
                <a:solidFill>
                  <a:srgbClr val="252525"/>
                </a:solidFill>
              </a:rPr>
              <a:t>        }</a:t>
            </a:r>
          </a:p>
          <a:p>
            <a:r>
              <a:rPr lang="en-US" sz="3700">
                <a:solidFill>
                  <a:srgbClr val="252525"/>
                </a:solidFill>
              </a:rPr>
              <a:t>    &lt;/style&gt;</a:t>
            </a:r>
          </a:p>
          <a:p>
            <a:r>
              <a:rPr lang="en-US" sz="3700">
                <a:solidFill>
                  <a:srgbClr val="252525"/>
                </a:solidFill>
              </a:rPr>
              <a:t>&lt;/head&gt;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1" id="2"/>
          <p:cNvSpPr txBox="true"/>
          <p:nvPr/>
        </p:nvSpPr>
        <p:spPr>
          <a:xfrm>
            <a:off x="5930900" y="571500"/>
            <a:ext cx="11887200" cy="16484600"/>
          </a:xfrm>
          <a:prstGeom prst="rect">
            <a:avLst/>
          </a:prstGeom>
        </p:spPr>
        <p:txBody>
          <a:bodyPr anchor="t" rtlCol="false"/>
          <a:lstStyle/>
          <a:p>
            <a:pPr algn="l"/>
            <a:r>
              <a:t/>
            </a:r>
            <a:endParaRPr lang="en-US" sz="1100"/>
          </a:p>
          <a:p>
            <a:r>
              <a:rPr lang="en-US" sz="3700">
                <a:solidFill>
                  <a:srgbClr val="252525"/>
                </a:solidFill>
              </a:rPr>
              <a:t>&lt;body&gt;</a:t>
            </a:r>
          </a:p>
          <a:p>
            <a:r>
              <a:rPr lang="en-US" sz="5000"/>
              <a:t>  </a:t>
            </a:r>
          </a:p>
          <a:p>
            <a:r>
              <a:rPr lang="en-US" sz="3700">
                <a:solidFill>
                  <a:srgbClr val="252525"/>
                </a:solidFill>
              </a:rPr>
              <a:t>    &lt;header&gt;</a:t>
            </a:r>
          </a:p>
          <a:p>
            <a:r>
              <a:rPr lang="en-US" sz="3700">
                <a:solidFill>
                  <a:srgbClr val="252525"/>
                </a:solidFill>
              </a:rPr>
              <a:t>        &lt;section id="about"&gt;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&lt;h1&gt;Introduction / About Me&lt;/h1&gt;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&lt;p&gt;I am Alan Sebastian, a developer focused on creating simple, responsive, and visually appealing web experiences[cite: 3]. I specialize in minimalist design paired with high-energy neon aesthetics.&lt;/p&gt;</a:t>
            </a:r>
          </a:p>
          <a:p>
            <a:r>
              <a:rPr lang="en-US" sz="3700">
                <a:solidFill>
                  <a:srgbClr val="252525"/>
                </a:solidFill>
              </a:rPr>
              <a:t>        &lt;/section&gt;</a:t>
            </a:r>
          </a:p>
          <a:p>
            <a:r>
              <a:rPr lang="en-US" sz="3700">
                <a:solidFill>
                  <a:srgbClr val="252525"/>
                </a:solidFill>
              </a:rPr>
              <a:t>    &lt;/header&gt;</a:t>
            </a:r>
          </a:p>
          <a:p>
            <a:r>
              <a:rPr lang="en-US" sz="5000"/>
              <a:t>  </a:t>
            </a:r>
          </a:p>
          <a:p>
            <a:r>
              <a:rPr lang="en-US" sz="3700">
                <a:solidFill>
                  <a:srgbClr val="252525"/>
                </a:solidFill>
              </a:rPr>
              <a:t>    &lt;main&gt;</a:t>
            </a:r>
          </a:p>
          <a:p>
            <a:r>
              <a:rPr lang="en-US" sz="3700">
                <a:solidFill>
                  <a:srgbClr val="252525"/>
                </a:solidFill>
              </a:rPr>
              <a:t>        &lt;section id="skills"&gt;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&lt;h2&gt;Skills and Expertise&lt;/h2&gt;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&lt;ul&gt;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    &lt;li&gt;&lt;strong&gt;HTML5:&lt;/strong&gt; Semantic structuring for accessibility.&lt;/li&gt;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    &lt;li&gt;&lt;strong&gt;CSS3:&lt;/strong&gt; 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1" id="2"/>
          <p:cNvSpPr txBox="true"/>
          <p:nvPr/>
        </p:nvSpPr>
        <p:spPr>
          <a:xfrm>
            <a:off x="5930900" y="571500"/>
            <a:ext cx="11887200" cy="16484600"/>
          </a:xfrm>
          <a:prstGeom prst="rect">
            <a:avLst/>
          </a:prstGeom>
        </p:spPr>
        <p:txBody>
          <a:bodyPr anchor="t" rtlCol="false"/>
          <a:lstStyle/>
          <a:p>
            <a:pPr algn="l"/>
            <a:r>
              <a:t/>
            </a:r>
            <a:endParaRPr lang="en-US" sz="1100"/>
          </a:p>
          <a:p>
            <a:r>
              <a:rPr lang="en-US" sz="3700">
                <a:solidFill>
                  <a:srgbClr val="252525"/>
                </a:solidFill>
              </a:rPr>
              <a:t>Responsive design and custom neon styling[cite: 12].&lt;/li&gt;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    &lt;li&gt;&lt;strong&gt;UI/UX:&lt;/strong&gt; Creating clean layouts that are easy to navigate[cite: 10].&lt;/li&gt;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    &lt;li&gt;&lt;strong&gt;Responsiveness:&lt;/strong&gt; Utilizing media queries for all screen sizes[cite: 16].&lt;/li&gt;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&lt;/ul&gt;</a:t>
            </a:r>
          </a:p>
          <a:p>
            <a:r>
              <a:rPr lang="en-US" sz="3700">
                <a:solidFill>
                  <a:srgbClr val="252525"/>
                </a:solidFill>
              </a:rPr>
              <a:t>        &lt;/section&gt;</a:t>
            </a:r>
          </a:p>
          <a:p>
            <a:r>
              <a:rPr lang="en-US" sz="5000"/>
              <a:t>  </a:t>
            </a:r>
          </a:p>
          <a:p>
            <a:r>
              <a:rPr lang="en-US" sz="3700">
                <a:solidFill>
                  <a:srgbClr val="252525"/>
                </a:solidFill>
              </a:rPr>
              <a:t>        &lt;section id="projects"&gt;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&lt;h2&gt;Projects or Work Experience&lt;/h2&gt;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&lt;p&gt;&lt;strong&gt;Personal Portfolio Project:&lt;/strong&gt; A functional and professional branding page built with HTML, CSS, and JavaScript[cite: 23].&lt;/p&gt;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&lt;p&gt;&lt;strong&gt;Neon UI Kit:&lt;/strong&gt; Developing interactive elements like buttons and hover effects for enhanced 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1" id="2"/>
          <p:cNvSpPr txBox="true"/>
          <p:nvPr/>
        </p:nvSpPr>
        <p:spPr>
          <a:xfrm>
            <a:off x="5930900" y="571500"/>
            <a:ext cx="11887200" cy="16484600"/>
          </a:xfrm>
          <a:prstGeom prst="rect">
            <a:avLst/>
          </a:prstGeom>
        </p:spPr>
        <p:txBody>
          <a:bodyPr anchor="t" rtlCol="false"/>
          <a:lstStyle/>
          <a:p>
            <a:pPr algn="l"/>
            <a:r>
              <a:t/>
            </a:r>
            <a:endParaRPr lang="en-US" sz="1100"/>
          </a:p>
          <a:p>
            <a:r>
              <a:rPr lang="en-US" sz="3700">
                <a:solidFill>
                  <a:srgbClr val="252525"/>
                </a:solidFill>
              </a:rPr>
              <a:t>user experience[cite: 18].&lt;/p&gt;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&lt;a href="</a:t>
            </a:r>
            <a:r>
              <a:rPr lang="en-US" sz="3700">
                <a:solidFill>
                  <a:srgbClr val="252525"/>
                </a:solidFill>
              </a:rPr>
              <a:t>https://github.com</a:t>
            </a:r>
            <a:r>
              <a:rPr lang="en-US" sz="3700">
                <a:solidFill>
                  <a:srgbClr val="252525"/>
                </a:solidFill>
              </a:rPr>
              <a:t>" class="btn" target="_blank"&gt;View GitHub Work &lt;/a&gt;</a:t>
            </a:r>
          </a:p>
          <a:p>
            <a:r>
              <a:rPr lang="en-US" sz="3700">
                <a:solidFill>
                  <a:srgbClr val="252525"/>
                </a:solidFill>
              </a:rPr>
              <a:t>        &lt;/section&gt;</a:t>
            </a:r>
          </a:p>
          <a:p>
            <a:r>
              <a:rPr lang="en-US" sz="5000"/>
              <a:t>  </a:t>
            </a:r>
          </a:p>
          <a:p>
            <a:r>
              <a:rPr lang="en-US" sz="3700">
                <a:solidFill>
                  <a:srgbClr val="252525"/>
                </a:solidFill>
              </a:rPr>
              <a:t>        &lt;section id="contact"&gt;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&lt;h2&gt;Contact Information&lt;/h2&gt;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&lt;p&gt;Email: &lt;a href="mailto:</a:t>
            </a:r>
            <a:r>
              <a:rPr lang="en-US" sz="3700">
                <a:solidFill>
                  <a:srgbClr val="252525"/>
                </a:solidFill>
              </a:rPr>
              <a:t>alansebastian6776@gmail.com</a:t>
            </a:r>
            <a:r>
              <a:rPr lang="en-US" sz="3700">
                <a:solidFill>
                  <a:srgbClr val="252525"/>
                </a:solidFill>
              </a:rPr>
              <a:t>"&gt;</a:t>
            </a:r>
            <a:r>
              <a:rPr lang="en-US" sz="3700">
                <a:solidFill>
                  <a:srgbClr val="252525"/>
                </a:solidFill>
              </a:rPr>
              <a:t>alansebastian6776@gmail.com</a:t>
            </a:r>
            <a:r>
              <a:rPr lang="en-US" sz="3700">
                <a:solidFill>
                  <a:srgbClr val="252525"/>
                </a:solidFill>
              </a:rPr>
              <a:t>&lt;/a&gt;&lt;/p&gt;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&lt;p&gt;Connect: &lt;a href="</a:t>
            </a:r>
            <a:r>
              <a:rPr lang="en-US" sz="3700">
                <a:solidFill>
                  <a:srgbClr val="252525"/>
                </a:solidFill>
              </a:rPr>
              <a:t>https://www.linkedin.com/in/alan-sebastian-538a673a2</a:t>
            </a:r>
            <a:r>
              <a:rPr lang="en-US" sz="3700">
                <a:solidFill>
                  <a:srgbClr val="252525"/>
                </a:solidFill>
              </a:rPr>
              <a:t>" target="_blank"&gt;LinkedIn Profile &lt;/a&gt;&lt;/p&gt;</a:t>
            </a:r>
          </a:p>
          <a:p>
            <a:r>
              <a:rPr lang="en-US" sz="3700">
                <a:solidFill>
                  <a:srgbClr val="252525"/>
                </a:solidFill>
              </a:rPr>
              <a:t>        &lt;/section&gt;</a:t>
            </a:r>
          </a:p>
          <a:p>
            <a:r>
              <a:rPr lang="en-US" sz="3700">
                <a:solidFill>
                  <a:srgbClr val="252525"/>
                </a:solidFill>
              </a:rPr>
              <a:t>    &lt;/main&gt;</a:t>
            </a:r>
          </a:p>
          <a:p>
            <a:r>
              <a:rPr lang="en-US" sz="5000"/>
              <a:t>  </a:t>
            </a:r>
          </a:p>
          <a:p>
            <a:r>
              <a:rPr lang="en-US" sz="3700">
                <a:solidFill>
                  <a:srgbClr val="252525"/>
                </a:solidFill>
              </a:rPr>
              <a:t>    &lt;footer style="font-size: 0.7rem; color: #555; text-align: center; margin-top: 20px;"&gt;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1" id="2"/>
          <p:cNvSpPr txBox="true"/>
          <p:nvPr/>
        </p:nvSpPr>
        <p:spPr>
          <a:xfrm>
            <a:off x="5930900" y="571500"/>
            <a:ext cx="11887200" cy="16484600"/>
          </a:xfrm>
          <a:prstGeom prst="rect">
            <a:avLst/>
          </a:prstGeom>
        </p:spPr>
        <p:txBody>
          <a:bodyPr anchor="t" rtlCol="false"/>
          <a:lstStyle/>
          <a:p>
            <a:pPr algn="l"/>
            <a:r>
              <a:t/>
            </a:r>
            <a:endParaRPr lang="en-US" sz="1100"/>
          </a:p>
          <a:p>
            <a:r>
              <a:rPr lang="en-US" sz="3700">
                <a:solidFill>
                  <a:srgbClr val="252525"/>
                </a:solidFill>
              </a:rPr>
              <a:t>        &lt;p&gt;Built with Semantic HTML for keyboard navigation and high-contrast readability.&lt;/p&gt;</a:t>
            </a:r>
          </a:p>
          <a:p>
            <a:r>
              <a:rPr lang="en-US" sz="3700">
                <a:solidFill>
                  <a:srgbClr val="252525"/>
                </a:solidFill>
              </a:rPr>
              <a:t>    &lt;/footer&gt;</a:t>
            </a:r>
          </a:p>
          <a:p>
            <a:r>
              <a:rPr lang="en-US" sz="5000"/>
              <a:t>  </a:t>
            </a:r>
          </a:p>
          <a:p>
            <a:r>
              <a:rPr lang="en-US" sz="3700">
                <a:solidFill>
                  <a:srgbClr val="252525"/>
                </a:solidFill>
              </a:rPr>
              <a:t>    &lt;script&gt;</a:t>
            </a:r>
          </a:p>
          <a:p>
            <a:r>
              <a:rPr lang="en-US" sz="3700">
                <a:solidFill>
                  <a:srgbClr val="252525"/>
                </a:solidFill>
              </a:rPr>
              <a:t>        /* Simple interaction tracking for links [cite: 17, 19] */</a:t>
            </a:r>
          </a:p>
          <a:p>
            <a:r>
              <a:rPr lang="en-US" sz="3700">
                <a:solidFill>
                  <a:srgbClr val="252525"/>
                </a:solidFill>
              </a:rPr>
              <a:t>        document.querySelectorAll('a').forEach(link =&gt; {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link.onclick = (e) =&gt; {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    console.log("User navigating to: " + link.href);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};</a:t>
            </a:r>
          </a:p>
          <a:p>
            <a:r>
              <a:rPr lang="en-US" sz="3700">
                <a:solidFill>
                  <a:srgbClr val="252525"/>
                </a:solidFill>
              </a:rPr>
              <a:t>        });</a:t>
            </a:r>
          </a:p>
          <a:p>
            <a:r>
              <a:rPr lang="en-US" sz="3700">
                <a:solidFill>
                  <a:srgbClr val="252525"/>
                </a:solidFill>
              </a:rPr>
              <a:t>    &lt;/script&gt;</a:t>
            </a:r>
          </a:p>
          <a:p>
            <a:r>
              <a:rPr lang="en-US" sz="5000"/>
              <a:t>  </a:t>
            </a:r>
          </a:p>
          <a:p>
            <a:r>
              <a:rPr lang="en-US" sz="3700">
                <a:solidFill>
                  <a:srgbClr val="252525"/>
                </a:solidFill>
              </a:rPr>
              <a:t>&lt;/body&gt;</a:t>
            </a:r>
          </a:p>
          <a:p>
            <a:r>
              <a:rPr lang="en-US" sz="3700">
                <a:solidFill>
                  <a:srgbClr val="252525"/>
                </a:solidFill>
              </a:rPr>
              <a:t>&lt;/html&gt;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terms:modified xsi:type="dcterms:W3CDTF">2011-08-01T06:04:30Z</dcterms:modified>
  <cp:revision>1</cp:revision>
</cp:coreProperties>
</file>